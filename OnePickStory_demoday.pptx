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[20초]
안녕하세요, One Pick Story입니다.
여행에서 사진은 수백 장씩 찍지만 편집은 못 하는 분들이, 사진만 올리면 AI가 알아서 골라 영상으로 만들어 주는 서비스입니다.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[50초]
저희 부모님은 여행을 다니실 때마다 사진을 수백 장씩 찍으십니다.
그런데 그 사진으로 만든 영상은 지금까지 한 편도 없습니다.
이유는 두 가지였습니다. 첫째, 수백 장 중에 어떤 사진이 잘 나왔는지를 일일이 넘겨 보며 고르는 일이 너무 힘들어서 중간에 포기하십니다.
둘째, 지인분들은 같은 여행 사진으로 브이로그를 만들어 공유하시는데, 부모님은 편집을 배운 적이 없어서 그걸 못 하십니다.
여기서 필요를 발견했습니다.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[45초]
그래서 앞의 세 가지를 그대로 대응시켰습니다.
사진 고르기는 AI 사진 선별이 대신합니다. 눈을 감았거나 초점이 흔들렸거나 비슷한 사진이 여러 장이면 자동으로 걸러 냅니다.
편집은 AI 감독이 대신합니다. 원하는 분위기를 한 줄로 적거나, 준비된 문구를 고르기만 하면 순서와 길이, 전환 효과와 색감을 알아서 정합니다.
그 결과로 바로 공유할 수 있는 영상 파일이 나옵니다.
AI는 판단만 하고, 실제 영상 합성은 검증된 오픈소스 렌더링 엔진이 담당합니다.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[5초]
실제 화면으로 바로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[80초]  배점이 가장 큰 구간입니다. 영상은 소리 없이도 이해되도록 자막을 넣어 주세요.
장면 1 (10초) 시작 화면 — 로그인된 상태에서 시작합니다.
장면 2 (30초) 여행 사진을 한 번에 올리고, AI 사진 선별을 실행합니다. 눈감은 사진과 중복 사진이 회색으로 빠지는 것이 실시간으로 보입니다.
장면 3 (30초) 원하는 분위기를 고르고 AI 감독을 실행하면 순서와 전환, 색감이 정해집니다. 마지막에 영상을 내보내 완성본을 보여 줍니다.
장면 4 (10초) 완성된 영상 재생.
※ 실시간 시연이 막히면 15초 안에 이 녹화본으로 전환할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[35초]
부모님을 포함해 지인 15분께 직접 전달했고, 열다섯 분 모두 영상 완성까지 도달했습니다. 편집을 해 본 적 없는 분들도 중간에 막혀 포기한 경우가 없었습니다.
다만 현재 표본은 전부 지인입니다. 그래서 다음 단계는 지인이 아닌 사용자를 확보해서, 두 번째 영상을 만드는지, 무료 횟수를 다 쓴 뒤 결제로 이어지는지를 확인하는 것입니다.
※ '지인 아닌 사용자는?' 질문이 나오면 이 슬라이드를 가리키며 다음 단계로 답할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[30초]
같은 도구를 쓰면 화면과 기능은 하루면 따라올 수 있습니다. 그건 경쟁력이 아니라 참가 자격이라고 생각합니다.
대신 지금 쌓이고 있는 건 실제 사용 기록과, 부모 세대가 어떤 사진을 '잘 나왔다'고 느끼는지에 대한 기준입니다.
이건 후발 주자가 돈으로 살 수 없고, 먼저 시작한 기간만큼만 쌓입니다.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
요금은 미리보기와 편집은 무제한으로 두고, 완성한 영상을 내보낼 때만 횟수를 쓰는 구조입니다.
사진이 많아질수록 AI 호출이 늘고, 영상이 길수록 렌더링 시간이 늘기 때문에, 원가가 늘어나는 두 축인 사진 장수와 내보내기 횟수로 등급을 나눴습니다.
결제하는 사람은 사용자 본인이고, 무료 2회로 완성본을 받아 본 다음에 결제 시점이 옵니다.
※ '운영 비용 감당?' 질문 대비 — 렌더링은 서버 CPU 비용, AI 선별은 호출당 비용. 둘 다 내보내기 횟수에 비례.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[15초]
사진첩에 잠들어 있는 여행을 영상 한 편으로 남기는 것이 One Pick Story입니다.
다음 단계로는 지인이 아닌 실사용자를 확보하고, 유료 전환을 실험해 보려고 합니다.
감사합니다.
※ 발표 직전에 링크를 한 번 열어 서버를 깨워 둘 것 — 무료 플랜은 15분 유휴 후 잠들어 첫 접속이 50초 이상 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5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B5846A"/>
          </a:solidFill>
          <a:ln/>
        </p:spPr>
      </p:sp>
      <p:pic>
        <p:nvPicPr>
          <p:cNvPr id="3" name="Image 0" descr="/Users/songhayoon/Desktop/vibe_mvp/deck_assets/ui-phone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960120"/>
            <a:ext cx="2633472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6583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BF9F6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소프트웨어 인재키움사업 · 바이브코딩 창업교육과정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Pick Story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514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600" b="1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사진첩에 잠든 여행을,</a:t>
            </a:r>
            <a:endParaRPr lang="en-US" sz="46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600" b="1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한 편으로.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914400" y="4526280"/>
            <a:ext cx="1463040" cy="10973"/>
          </a:xfrm>
          <a:prstGeom prst="rect">
            <a:avLst/>
          </a:prstGeom>
          <a:solidFill>
            <a:srgbClr val="FBF9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48006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BF9F6">
                    <a:alpha val="8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수백 장을 찍지만 편집은 못 하는 부모님이, 사진만 올리면 끝나는 서비스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6080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F9F6">
                    <a:alpha val="7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 pluto_hy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02975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Pick Story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56692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고르는 데 지쳐, 결국 </a:t>
            </a:r>
            <a:endParaRPr lang="en-US" sz="2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 만들지 못한다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72768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여행을 다녀온 저희 부모님의 사진첩 이야기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167128"/>
            <a:ext cx="256032" cy="256032"/>
          </a:xfrm>
          <a:prstGeom prst="ellipse">
            <a:avLst/>
          </a:prstGeom>
          <a:solidFill>
            <a:srgbClr val="EFDFD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96696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96696" y="24414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여행마다 수백 장을 찍는 60대 부모님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035808"/>
            <a:ext cx="256032" cy="256032"/>
          </a:xfrm>
          <a:prstGeom prst="ellipse">
            <a:avLst/>
          </a:prstGeom>
          <a:solidFill>
            <a:srgbClr val="EFDF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96696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방식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96696" y="33101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사진첩을 처음부터 넘기며 눈으로 하나씩 고름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904488"/>
            <a:ext cx="256032" cy="256032"/>
          </a:xfrm>
          <a:prstGeom prst="ellipse">
            <a:avLst/>
          </a:prstGeom>
          <a:solidFill>
            <a:srgbClr val="EFDFD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96696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치르는 비용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96696" y="41788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고르다 지쳐 중단. 결국 공유하는 건 몇 장뿐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773168"/>
            <a:ext cx="256032" cy="256032"/>
          </a:xfrm>
          <a:prstGeom prst="ellipse">
            <a:avLst/>
          </a:prstGeom>
          <a:solidFill>
            <a:srgbClr val="EFDFD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773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96696" y="4754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여태 안 된 이유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96696" y="504748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앱은 배우는 데 시간이 들고, 대신 만들어 줄 사람이 없음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2148840"/>
            <a:ext cx="4873752" cy="2606040"/>
          </a:xfrm>
          <a:prstGeom prst="roundRect">
            <a:avLst>
              <a:gd name="adj" fmla="val 3509"/>
            </a:avLst>
          </a:prstGeom>
          <a:solidFill>
            <a:srgbClr val="FBF9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0" y="2395728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수백</a:t>
            </a:r>
            <a:pPr indent="0" marL="0">
              <a:buNone/>
            </a:pPr>
            <a:r>
              <a:rPr lang="en-US" sz="19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장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여행 한 번에 찍는 사진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3456432"/>
            <a:ext cx="4050792" cy="10973"/>
          </a:xfrm>
          <a:prstGeom prst="rect">
            <a:avLst/>
          </a:prstGeom>
          <a:solidFill>
            <a:srgbClr val="DCD3C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0" y="3657600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pPr indent="0" marL="0">
              <a:buNone/>
            </a:pPr>
            <a:r>
              <a:rPr lang="en-US" sz="19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편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사진으로 만든 영상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20840" y="4956048"/>
            <a:ext cx="4873752" cy="1024128"/>
          </a:xfrm>
          <a:prstGeom prst="roundRect">
            <a:avLst>
              <a:gd name="adj" fmla="val 8929"/>
            </a:avLst>
          </a:prstGeom>
          <a:solidFill>
            <a:srgbClr val="EFDFD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068312" y="4956048"/>
            <a:ext cx="4178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지인은 같은 사진으로 브이로그를 만들어 공유하는데,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부모님은 그걸 못 합니다.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6080760"/>
            <a:ext cx="10088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부모님·지인 관찰 및 대화 · 2026.8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02975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Pick Story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56692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사진만 올리면, </a:t>
            </a:r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나머지는 AI가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72768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앞에서 짚은 세 가지를 그대로 대응시켰습니다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5806440" cy="1097280"/>
          </a:xfrm>
          <a:prstGeom prst="roundRect">
            <a:avLst>
              <a:gd name="adj" fmla="val 8333"/>
            </a:avLst>
          </a:prstGeom>
          <a:solidFill>
            <a:srgbClr val="FBF9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86968" y="2313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고르기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수백 장을 일일이 넘겨 확인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2404872"/>
            <a:ext cx="10973" cy="585216"/>
          </a:xfrm>
          <a:prstGeom prst="rect">
            <a:avLst/>
          </a:prstGeom>
          <a:solidFill>
            <a:srgbClr val="DCD3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2313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사진 선별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눈감음·중복·흐린 사진 자동 제외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410712"/>
            <a:ext cx="5806440" cy="1097280"/>
          </a:xfrm>
          <a:prstGeom prst="roundRect">
            <a:avLst>
              <a:gd name="adj" fmla="val 8333"/>
            </a:avLst>
          </a:prstGeom>
          <a:solidFill>
            <a:srgbClr val="FBF9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" y="3575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39136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앱을 새로 배워야 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3666744"/>
            <a:ext cx="10973" cy="585216"/>
          </a:xfrm>
          <a:prstGeom prst="rect">
            <a:avLst/>
          </a:prstGeom>
          <a:solidFill>
            <a:srgbClr val="DCD3C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00400" y="3575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감독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3913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순서·길이·전환·색감 자동 결정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672584"/>
            <a:ext cx="5806440" cy="1097280"/>
          </a:xfrm>
          <a:prstGeom prst="roundRect">
            <a:avLst>
              <a:gd name="adj" fmla="val 8333"/>
            </a:avLst>
          </a:prstGeom>
          <a:solidFill>
            <a:srgbClr val="FBF9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6968" y="48371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51755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사진첩에 그대로 방치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4928616"/>
            <a:ext cx="10973" cy="585216"/>
          </a:xfrm>
          <a:prstGeom prst="rect">
            <a:avLst/>
          </a:prstGeom>
          <a:solidFill>
            <a:srgbClr val="DCD3C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00400" y="4837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영상 파일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51755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공유 가능한 상태로 저장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2148840"/>
            <a:ext cx="4873752" cy="2487168"/>
          </a:xfrm>
          <a:prstGeom prst="roundRect">
            <a:avLst>
              <a:gd name="adj" fmla="val 3676"/>
            </a:avLst>
          </a:prstGeom>
          <a:solidFill>
            <a:srgbClr val="FBF9F6"/>
          </a:solidFill>
          <a:ln/>
        </p:spPr>
      </p:sp>
      <p:pic>
        <p:nvPicPr>
          <p:cNvPr id="26" name="Image 0" descr="/Users/songhayoon/Desktop/vibe_mvp/deck_assets/ui-c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395728"/>
            <a:ext cx="4325112" cy="1911096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720840" y="473659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화면 — 눈감음·중복 사진이 회색으로 빠집니다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720840" y="5138928"/>
            <a:ext cx="4873752" cy="841248"/>
          </a:xfrm>
          <a:prstGeom prst="roundRect">
            <a:avLst>
              <a:gd name="adj" fmla="val 10870"/>
            </a:avLst>
          </a:prstGeom>
          <a:solidFill>
            <a:srgbClr val="EFDFD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068312" y="5138928"/>
            <a:ext cx="41788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판단만 하고, 실제 합성은 </a:t>
            </a:r>
            <a:pPr indent="0" marL="0">
              <a:buNone/>
            </a:pPr>
            <a:r>
              <a:rPr lang="en-US" sz="12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ffmpeg</a:t>
            </a:r>
            <a:pPr indent="0" marL="0">
              <a:buNone/>
            </a:pPr>
            <a:r>
              <a:rPr lang="en-US" sz="125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담당합니다.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25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965960"/>
            <a:ext cx="2926080" cy="2926080"/>
          </a:xfrm>
          <a:prstGeom prst="ellipse">
            <a:avLst/>
          </a:prstGeom>
          <a:solidFill>
            <a:srgbClr val="B5846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F9F6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971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914400" y="4069080"/>
            <a:ext cx="1463040" cy="10973"/>
          </a:xfrm>
          <a:prstGeom prst="rect">
            <a:avLst/>
          </a:prstGeom>
          <a:solidFill>
            <a:srgbClr val="FBF9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BF9F6">
                    <a:alpha val="8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업로드부터 완성된 영상까지, 실제 화면으로 보여 드리겠습니다.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02975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Pick Story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56692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업로드부터 </a:t>
            </a:r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영상까지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2029968"/>
            <a:ext cx="256032" cy="256032"/>
          </a:xfrm>
          <a:prstGeom prst="ellipse">
            <a:avLst/>
          </a:prstGeom>
          <a:solidFill>
            <a:srgbClr val="EFDFD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화면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96696" y="23042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로그인된 상태에서 시작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944368"/>
            <a:ext cx="256032" cy="256032"/>
          </a:xfrm>
          <a:prstGeom prst="ellipse">
            <a:avLst/>
          </a:prstGeom>
          <a:solidFill>
            <a:srgbClr val="EFDFD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96696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업로드 · AI 선별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96696" y="3218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제외된 사진이 실시간으로 회색 처리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858768"/>
            <a:ext cx="256032" cy="256032"/>
          </a:xfrm>
          <a:prstGeom prst="ellipse">
            <a:avLst/>
          </a:prstGeom>
          <a:solidFill>
            <a:srgbClr val="EFDFD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96696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편집 · 완성 영상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96696" y="4133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순서·전환·색감이 정해지고 내보내기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89204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EFDFD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892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시연이 막히면 </a:t>
            </a:r>
            <a:pPr indent="0" marL="0">
              <a:buNone/>
            </a:pPr>
            <a:r>
              <a:rPr lang="en-US" sz="12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15초 안에</a:t>
            </a:r>
            <a:pPr indent="0" marL="0">
              <a:buNone/>
            </a:pPr>
            <a:r>
              <a:rPr lang="en-US" sz="120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 녹화본으로 전환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57800" y="1965960"/>
            <a:ext cx="3108960" cy="4160520"/>
          </a:xfrm>
          <a:prstGeom prst="roundRect">
            <a:avLst>
              <a:gd name="adj" fmla="val 4706"/>
            </a:avLst>
          </a:prstGeom>
          <a:solidFill>
            <a:srgbClr val="FBF9F6"/>
          </a:solidFill>
          <a:ln w="19050">
            <a:solidFill>
              <a:srgbClr val="B5846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537960" y="3703320"/>
            <a:ext cx="548640" cy="548640"/>
          </a:xfrm>
          <a:prstGeom prst="ellipse">
            <a:avLst/>
          </a:prstGeom>
          <a:solidFill>
            <a:srgbClr val="EFDFD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434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도형을 지우고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영상을 넣어 주세요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3960" y="1965960"/>
            <a:ext cx="2770632" cy="4160520"/>
          </a:xfrm>
          <a:prstGeom prst="roundRect">
            <a:avLst>
              <a:gd name="adj" fmla="val 3300"/>
            </a:avLst>
          </a:prstGeom>
          <a:solidFill>
            <a:srgbClr val="FBF9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98280" y="2212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장면별 참고 화면</a:t>
            </a:r>
            <a:endParaRPr lang="en-US" sz="1100" dirty="0"/>
          </a:p>
        </p:txBody>
      </p:sp>
      <p:pic>
        <p:nvPicPr>
          <p:cNvPr id="26" name="Image 0" descr="/Users/songhayoon/Desktop/vibe_mvp/deck_assets/ui-c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06040"/>
            <a:ext cx="2221992" cy="978408"/>
          </a:xfrm>
          <a:prstGeom prst="rect">
            <a:avLst/>
          </a:prstGeom>
        </p:spPr>
      </p:pic>
      <p:pic>
        <p:nvPicPr>
          <p:cNvPr id="27" name="Image 1" descr="/Users/songhayoon/Desktop/vibe_mvp/deck_assets/ui-tim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767328"/>
            <a:ext cx="2221992" cy="47548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9098280" y="4434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선별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흐림·중복·눈감음 제외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타임라인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클립별 전환 효과 지정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02975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Pick Story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56692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15명이 직접 만들어 봤고, </a:t>
            </a:r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 완성했습니다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72768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부모님과 지인 대상 사용 테스트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3063240" cy="3429000"/>
          </a:xfrm>
          <a:prstGeom prst="roundRect">
            <a:avLst>
              <a:gd name="adj" fmla="val 2985"/>
            </a:avLst>
          </a:prstGeom>
          <a:solidFill>
            <a:srgbClr val="FBF9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32888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pPr indent="0" marL="0">
              <a:buNone/>
            </a:pPr>
            <a:r>
              <a:rPr lang="en-US" sz="19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명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64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서비스를 전달한 사용자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776472"/>
            <a:ext cx="2331720" cy="10973"/>
          </a:xfrm>
          <a:prstGeom prst="rect">
            <a:avLst/>
          </a:prstGeom>
          <a:solidFill>
            <a:srgbClr val="DCD3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069080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pPr indent="0" marL="0">
              <a:buNone/>
            </a:pPr>
            <a:r>
              <a:rPr lang="en-US" sz="19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완성까지 도달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2148840"/>
            <a:ext cx="3749040" cy="3429000"/>
          </a:xfrm>
          <a:prstGeom prst="roundRect">
            <a:avLst>
              <a:gd name="adj" fmla="val 2667"/>
            </a:avLst>
          </a:prstGeom>
          <a:solidFill>
            <a:srgbClr val="EFDFD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15968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검증한 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15968" y="3099816"/>
            <a:ext cx="91440" cy="91440"/>
          </a:xfrm>
          <a:prstGeom prst="ellipse">
            <a:avLst/>
          </a:prstGeom>
          <a:solidFill>
            <a:srgbClr val="C756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26280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경험 없이도 완성까지 도달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15968" y="3968496"/>
            <a:ext cx="91440" cy="91440"/>
          </a:xfrm>
          <a:prstGeom prst="ellipse">
            <a:avLst/>
          </a:prstGeom>
          <a:solidFill>
            <a:srgbClr val="C756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중간에 막혀 포기한 사용자 없음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5968" y="4837176"/>
            <a:ext cx="91440" cy="91440"/>
          </a:xfrm>
          <a:prstGeom prst="ellipse">
            <a:avLst/>
          </a:prstGeom>
          <a:solidFill>
            <a:srgbClr val="C756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26280" y="4754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선별이 가장 유용하다는 반응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2148840"/>
            <a:ext cx="3730752" cy="3429000"/>
          </a:xfrm>
          <a:prstGeom prst="roundRect">
            <a:avLst>
              <a:gd name="adj" fmla="val 2667"/>
            </a:avLst>
          </a:prstGeom>
          <a:solidFill>
            <a:srgbClr val="FBF9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02168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다음에 확인할 것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02168" y="3035808"/>
            <a:ext cx="237744" cy="237744"/>
          </a:xfrm>
          <a:prstGeom prst="ellipse">
            <a:avLst/>
          </a:prstGeom>
          <a:solidFill>
            <a:srgbClr val="E4E8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02168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577072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지인 외 사용자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577072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표본은 모두 지인입니다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02168" y="3904488"/>
            <a:ext cx="237744" cy="237744"/>
          </a:xfrm>
          <a:prstGeom prst="ellipse">
            <a:avLst/>
          </a:prstGeom>
          <a:solidFill>
            <a:srgbClr val="E4E8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02168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577072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재사용 여부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577072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 영상을 만드는지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02168" y="4773168"/>
            <a:ext cx="237744" cy="237744"/>
          </a:xfrm>
          <a:prstGeom prst="ellipse">
            <a:avLst/>
          </a:prstGeom>
          <a:solidFill>
            <a:srgbClr val="E4E8E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02168" y="4773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577072" y="4754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의사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577072" y="5029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2회 이후 전환율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6080760"/>
            <a:ext cx="10088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부모님·지인 15명 직접 전달 후 사용 관찰 · 2026.9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02975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Pick Story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MOAT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56692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복제되는 것과 </a:t>
            </a:r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쌓이는 것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72768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도구를 쓰면 화면은 하루면 따라옵니다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5349240" cy="2697480"/>
          </a:xfrm>
          <a:prstGeom prst="roundRect">
            <a:avLst>
              <a:gd name="adj" fmla="val 3390"/>
            </a:avLst>
          </a:prstGeom>
          <a:solidFill>
            <a:srgbClr val="FBF9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78408" y="24963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하루면 복제되는 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78408" y="3163824"/>
            <a:ext cx="91440" cy="91440"/>
          </a:xfrm>
          <a:prstGeom prst="ellipse">
            <a:avLst/>
          </a:prstGeom>
          <a:solidFill>
            <a:srgbClr val="DCD3C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97864" y="3063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화면과 기능 구성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78408" y="3712464"/>
            <a:ext cx="91440" cy="91440"/>
          </a:xfrm>
          <a:prstGeom prst="ellipse">
            <a:avLst/>
          </a:prstGeom>
          <a:solidFill>
            <a:srgbClr val="DCD3C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97864" y="3611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중인 AI 모델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78408" y="4261104"/>
            <a:ext cx="91440" cy="91440"/>
          </a:xfrm>
          <a:prstGeom prst="ellipse">
            <a:avLst/>
          </a:prstGeom>
          <a:solidFill>
            <a:srgbClr val="DCD3C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97864" y="4160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렌더링 엔진과 전환 효과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2148840"/>
            <a:ext cx="5239512" cy="2697480"/>
          </a:xfrm>
          <a:prstGeom prst="roundRect">
            <a:avLst>
              <a:gd name="adj" fmla="val 3390"/>
            </a:avLst>
          </a:prstGeom>
          <a:solidFill>
            <a:srgbClr val="EFDFD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39128" y="24963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6개월이 걸리는 것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39128" y="3163824"/>
            <a:ext cx="91440" cy="91440"/>
          </a:xfrm>
          <a:prstGeom prst="ellipse">
            <a:avLst/>
          </a:prstGeom>
          <a:solidFill>
            <a:srgbClr val="C756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58584" y="3063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15명의 실제 사용 기록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39128" y="3712464"/>
            <a:ext cx="91440" cy="91440"/>
          </a:xfrm>
          <a:prstGeom prst="ellipse">
            <a:avLst/>
          </a:prstGeom>
          <a:solidFill>
            <a:srgbClr val="C756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58584" y="3611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세대가 '잘 나왔다'고 느끼는 기준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39128" y="4261104"/>
            <a:ext cx="91440" cy="91440"/>
          </a:xfrm>
          <a:prstGeom prst="ellipse">
            <a:avLst/>
          </a:prstGeom>
          <a:solidFill>
            <a:srgbClr val="C7561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58584" y="4160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선별 결과가 쌓여 만드는 취향 데이터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5138928"/>
            <a:ext cx="11000232" cy="841248"/>
          </a:xfrm>
          <a:prstGeom prst="roundRect">
            <a:avLst>
              <a:gd name="adj" fmla="val 10870"/>
            </a:avLst>
          </a:prstGeom>
          <a:solidFill>
            <a:srgbClr val="A25A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8408" y="5138928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후발 주자가 돈으로 살 수 없는 것은 </a:t>
            </a:r>
            <a:pPr indent="0" marL="0">
              <a:buNone/>
            </a:pPr>
            <a:r>
              <a:rPr lang="en-US" sz="1600" b="1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기간</a:t>
            </a:r>
            <a:pPr indent="0" marL="0">
              <a:buNone/>
            </a:pPr>
            <a:r>
              <a:rPr lang="en-US" sz="1600" b="1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02975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Pick Story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566928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미리보기는 무제한, </a:t>
            </a:r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내보낼 때만 과금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72768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원가가 사용량에 비례하기 때문에 선택한 구조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1000232" cy="3017520"/>
          </a:xfrm>
          <a:prstGeom prst="roundRect">
            <a:avLst>
              <a:gd name="adj" fmla="val 3030"/>
            </a:avLst>
          </a:prstGeom>
          <a:solidFill>
            <a:srgbClr val="FBF9F6"/>
          </a:solidFill>
          <a:ln/>
        </p:spPr>
      </p:sp>
      <p:pic>
        <p:nvPicPr>
          <p:cNvPr id="8" name="Image 0" descr="/Users/songhayoon/Desktop/vibe_mvp/deck_assets/ui-pric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10268712" cy="2651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5285232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EFDFD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41832" y="5285232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장수</a:t>
            </a:r>
            <a:pPr indent="0" marL="0">
              <a:buNone/>
            </a:pPr>
            <a:r>
              <a:rPr lang="en-US" sz="120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pPr indent="0" marL="0">
              <a:buNone/>
            </a:pPr>
            <a:r>
              <a:rPr lang="en-US" sz="12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내보내기 횟수</a:t>
            </a:r>
            <a:pPr indent="0" marL="0">
              <a:buNone/>
            </a:pPr>
            <a:r>
              <a:rPr lang="en-US" sz="1200" dirty="0">
                <a:solidFill>
                  <a:srgbClr val="3328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원가가 늘어나는 두 축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55080" y="5285232"/>
            <a:ext cx="5239512" cy="804672"/>
          </a:xfrm>
          <a:prstGeom prst="roundRect">
            <a:avLst>
              <a:gd name="adj" fmla="val 11364"/>
            </a:avLst>
          </a:prstGeom>
          <a:solidFill>
            <a:srgbClr val="FBF9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02552" y="5285232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E4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주체는 사용자 본인. 영상 한 편을 만들어 본 뒤에 결제 시점이 옵니다.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25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02920"/>
            <a:ext cx="1463040" cy="1463040"/>
          </a:xfrm>
          <a:prstGeom prst="ellipse">
            <a:avLst/>
          </a:prstGeom>
          <a:solidFill>
            <a:srgbClr val="B5846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F9F6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1430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200" b="1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사진첩에 잠든 여행을,</a:t>
            </a:r>
            <a:endParaRPr lang="en-US" sz="3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200" b="1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한 편으로.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971800"/>
            <a:ext cx="4846320" cy="2011680"/>
          </a:xfrm>
          <a:prstGeom prst="roundRect">
            <a:avLst>
              <a:gd name="adj" fmla="val 4545"/>
            </a:avLst>
          </a:prstGeom>
          <a:solidFill>
            <a:srgbClr val="B584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61872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61872" y="3776472"/>
            <a:ext cx="82296" cy="82296"/>
          </a:xfrm>
          <a:prstGeom prst="ellipse">
            <a:avLst/>
          </a:prstGeom>
          <a:solidFill>
            <a:srgbClr val="FBF9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3685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지인이 아닌 실사용자 확보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261872" y="4178808"/>
            <a:ext cx="82296" cy="82296"/>
          </a:xfrm>
          <a:prstGeom prst="ellipse">
            <a:avLst/>
          </a:prstGeom>
          <a:solidFill>
            <a:srgbClr val="FBF9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63040" y="4087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 영상까지 만드는지 관찰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261872" y="4581144"/>
            <a:ext cx="82296" cy="82296"/>
          </a:xfrm>
          <a:prstGeom prst="ellipse">
            <a:avLst/>
          </a:prstGeom>
          <a:solidFill>
            <a:srgbClr val="FBF9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63040" y="44897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2회 이후 유료 전환 실험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971800"/>
            <a:ext cx="4846320" cy="2011680"/>
          </a:xfrm>
          <a:prstGeom prst="roundRect">
            <a:avLst>
              <a:gd name="adj" fmla="val 4545"/>
            </a:avLst>
          </a:prstGeom>
          <a:solidFill>
            <a:srgbClr val="B584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지원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73952" y="3776472"/>
            <a:ext cx="82296" cy="82296"/>
          </a:xfrm>
          <a:prstGeom prst="ellipse">
            <a:avLst/>
          </a:prstGeom>
          <a:solidFill>
            <a:srgbClr val="FBF9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3685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렌더링 서버 인프라 비용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73952" y="4178808"/>
            <a:ext cx="82296" cy="82296"/>
          </a:xfrm>
          <a:prstGeom prst="ellipse">
            <a:avLst/>
          </a:prstGeom>
          <a:solidFill>
            <a:srgbClr val="FBF9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087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F9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사용자 확보를 위한 마케팅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5257800"/>
            <a:ext cx="10058400" cy="868680"/>
          </a:xfrm>
          <a:prstGeom prst="roundRect">
            <a:avLst>
              <a:gd name="adj" fmla="val 10526"/>
            </a:avLst>
          </a:prstGeom>
          <a:solidFill>
            <a:srgbClr val="FBF9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80160" y="53766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6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접속해 보실 수 있습니다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61441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45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vibe-cut.onrender.com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Pick Story — 데모데이 발표자료</dc:title>
  <dc:subject>PptxGenJS Presentation</dc:subject>
  <dc:creator>pluto_hy</dc:creator>
  <cp:lastModifiedBy>pluto_hy</cp:lastModifiedBy>
  <cp:revision>1</cp:revision>
  <dcterms:created xsi:type="dcterms:W3CDTF">2026-09-17T05:20:34Z</dcterms:created>
  <dcterms:modified xsi:type="dcterms:W3CDTF">2026-09-17T05:20:34Z</dcterms:modified>
</cp:coreProperties>
</file>